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2"/>
  </p:notesMasterIdLst>
  <p:sldIdLst>
    <p:sldId id="265" r:id="rId3"/>
    <p:sldId id="257" r:id="rId4"/>
    <p:sldId id="259" r:id="rId5"/>
    <p:sldId id="258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23FCDC-B3E7-41B8-B7B0-C400CF768C97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BE1673-1247-49C5-AA50-C76BC1AC9C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7506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1938" cy="4006850"/>
          </a:xfrm>
          <a:prstGeom prst="rect">
            <a:avLst/>
          </a:prstGeom>
          <a:ln w="0">
            <a:noFill/>
          </a:ln>
        </p:spPr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5840" cy="480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sldNum" idx="15"/>
          </p:nvPr>
        </p:nvSpPr>
        <p:spPr>
          <a:xfrm>
            <a:off x="4278960" y="10157400"/>
            <a:ext cx="3278880" cy="53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31A50C66-0052-47D9-9781-5BF6D88D278A}" type="slidenum">
              <a:rPr kumimoji="0" lang="en-US" sz="14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1</a:t>
            </a:fld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360" cy="113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6360" cy="452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6994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;p18"/>
          <p:cNvPicPr/>
          <p:nvPr/>
        </p:nvPicPr>
        <p:blipFill>
          <a:blip r:embed="rId3"/>
          <a:stretch/>
        </p:blipFill>
        <p:spPr>
          <a:xfrm>
            <a:off x="0" y="0"/>
            <a:ext cx="1370160" cy="749880"/>
          </a:xfrm>
          <a:prstGeom prst="rect">
            <a:avLst/>
          </a:prstGeom>
          <a:ln w="0">
            <a:noFill/>
          </a:ln>
        </p:spPr>
      </p:pic>
      <p:sp>
        <p:nvSpPr>
          <p:cNvPr id="5" name="Google Shape;10;p18"/>
          <p:cNvSpPr/>
          <p:nvPr/>
        </p:nvSpPr>
        <p:spPr>
          <a:xfrm>
            <a:off x="90360" y="6322320"/>
            <a:ext cx="3603600" cy="39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741B47"/>
                </a:solidFill>
                <a:latin typeface="Times New Roman"/>
                <a:ea typeface="Times New Roman"/>
              </a:rPr>
              <a:t>Department of MCA, RIT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360" cy="113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6360" cy="452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3268569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ldNum" idx="4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accent2"/>
                </a:solidFill>
                <a:latin typeface="Calibri"/>
                <a:ea typeface="Calibri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667883D8-11E1-4A16-B5AC-242281C472FC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1</a:t>
            </a:fld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Calibri"/>
              <a:cs typeface="+mn-cs"/>
            </a:endParaRPr>
          </a:p>
        </p:txBody>
      </p:sp>
      <p:sp>
        <p:nvSpPr>
          <p:cNvPr id="13" name="TextBox 1"/>
          <p:cNvSpPr/>
          <p:nvPr/>
        </p:nvSpPr>
        <p:spPr>
          <a:xfrm>
            <a:off x="835890" y="856094"/>
            <a:ext cx="7472219" cy="1568206"/>
          </a:xfrm>
          <a:prstGeom prst="rect">
            <a:avLst/>
          </a:prstGeom>
          <a:noFill/>
          <a:ln w="0">
            <a:noFill/>
          </a:ln>
          <a:effectLst>
            <a:outerShdw blurRad="63360" sx="102000" sy="102000" algn="ctr" rotWithShape="0">
              <a:srgbClr val="000000">
                <a:alpha val="40000"/>
              </a:srgbClr>
            </a:outerShdw>
          </a:effectLst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Contextual Product Recommender Platform Based on User Digital Activity Patterns</a:t>
            </a:r>
            <a:endParaRPr kumimoji="0" lang="en-US" sz="32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extBox 2"/>
          <p:cNvSpPr/>
          <p:nvPr/>
        </p:nvSpPr>
        <p:spPr>
          <a:xfrm>
            <a:off x="681840" y="2481815"/>
            <a:ext cx="7780320" cy="36918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pc="-1" dirty="0">
              <a:solidFill>
                <a:srgbClr val="000000"/>
              </a:solidFill>
              <a:latin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" normalizeH="0" baseline="0" noProof="0" dirty="0">
                <a:ln>
                  <a:noFill/>
                </a:ln>
                <a:solidFill>
                  <a:srgbClr val="07376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Vignesh</a:t>
            </a:r>
            <a:endParaRPr lang="en-US" spc="-1" dirty="0">
              <a:solidFill>
                <a:srgbClr val="000000"/>
              </a:solidFill>
              <a:latin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" normalizeH="0" baseline="0" noProof="0" dirty="0">
                <a:ln>
                  <a:noFill/>
                </a:ln>
                <a:solidFill>
                  <a:srgbClr val="07376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1MS24MC105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7376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7376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" normalizeH="0" baseline="0" noProof="0" dirty="0">
                <a:ln>
                  <a:noFill/>
                </a:ln>
                <a:solidFill>
                  <a:srgbClr val="07376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Under the Guidance </a:t>
            </a:r>
            <a:endParaRPr lang="en-US" dirty="0">
              <a:solidFill>
                <a:srgbClr val="073763"/>
              </a:solidFill>
              <a:latin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" normalizeH="0" baseline="0" noProof="0" dirty="0">
                <a:ln>
                  <a:noFill/>
                </a:ln>
                <a:solidFill>
                  <a:srgbClr val="07376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Of</a:t>
            </a:r>
            <a:endParaRPr lang="en-US" dirty="0">
              <a:solidFill>
                <a:srgbClr val="073763"/>
              </a:solidFill>
              <a:latin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" normalizeH="0" baseline="0" noProof="0" dirty="0">
                <a:ln>
                  <a:noFill/>
                </a:ln>
                <a:solidFill>
                  <a:srgbClr val="07376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Dr. Preethi N Patil</a:t>
            </a:r>
            <a:endParaRPr lang="en-US" dirty="0">
              <a:solidFill>
                <a:srgbClr val="073763"/>
              </a:solidFill>
              <a:latin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" normalizeH="0" baseline="0" noProof="0" dirty="0">
                <a:ln>
                  <a:noFill/>
                </a:ln>
                <a:solidFill>
                  <a:srgbClr val="07376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Associate Professor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" normalizeH="0" baseline="0" noProof="0" dirty="0">
                <a:ln>
                  <a:noFill/>
                </a:ln>
                <a:solidFill>
                  <a:srgbClr val="07376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Dept. of MCA</a:t>
            </a:r>
            <a:b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7376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US" sz="1800" b="0" i="0" u="none" strike="noStrike" kern="1200" cap="none" spc="-1" normalizeH="0" baseline="0" noProof="0" dirty="0">
                <a:ln>
                  <a:noFill/>
                </a:ln>
                <a:solidFill>
                  <a:srgbClr val="07376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			     </a:t>
            </a:r>
            <a:endParaRPr lang="en-US" dirty="0">
              <a:solidFill>
                <a:srgbClr val="073763"/>
              </a:solidFill>
              <a:latin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srgbClr val="07376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" normalizeH="0" baseline="0" noProof="0" dirty="0">
                <a:ln>
                  <a:noFill/>
                </a:ln>
                <a:solidFill>
                  <a:srgbClr val="073763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Ramaiah Institute of Technology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360" cy="113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strike="noStrike" spc="-1" dirty="0">
                <a:solidFill>
                  <a:schemeClr val="dk1"/>
                </a:solidFill>
                <a:latin typeface="Times New Roman"/>
                <a:ea typeface="Times New Roman"/>
              </a:rPr>
              <a:t>Problem</a:t>
            </a:r>
            <a:r>
              <a:rPr lang="en-US" sz="4400" b="0" strike="noStrike" spc="-1" dirty="0">
                <a:solidFill>
                  <a:schemeClr val="dk1"/>
                </a:solidFill>
                <a:latin typeface="Calibri"/>
                <a:ea typeface="Calibri"/>
              </a:rPr>
              <a:t> </a:t>
            </a:r>
            <a:r>
              <a:rPr lang="en-US" sz="3000" b="0" strike="noStrike" spc="-1" dirty="0">
                <a:solidFill>
                  <a:schemeClr val="dk1"/>
                </a:solidFill>
                <a:latin typeface="Times New Roman"/>
                <a:ea typeface="Times New Roman"/>
              </a:rPr>
              <a:t>Statement</a:t>
            </a:r>
            <a:endParaRPr lang="en-US" sz="30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accent2"/>
                </a:solidFill>
                <a:latin typeface="Calibri"/>
                <a:ea typeface="Calibri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30CA145C-3E33-4B3D-AF7A-6CB7E7019C52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2</a:t>
            </a:fld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Calibri"/>
              <a:cs typeface="+mn-cs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57200" y="1418760"/>
            <a:ext cx="8226360" cy="4522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13968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 dirty="0">
                <a:solidFill>
                  <a:schemeClr val="dk2"/>
                </a:solidFill>
                <a:latin typeface="Times New Roman"/>
                <a:ea typeface="Times New Roman"/>
              </a:rPr>
              <a:t>“</a:t>
            </a:r>
            <a:r>
              <a:rPr lang="en-US" sz="2400" b="0" i="1" strike="noStrike" spc="-1" dirty="0">
                <a:solidFill>
                  <a:schemeClr val="dk2"/>
                </a:solidFill>
                <a:latin typeface="Times New Roman"/>
                <a:ea typeface="Times New Roman"/>
              </a:rPr>
              <a:t>To develop a platform that unifies user identities to build dynamic user profiles, generates personalized recommendations, and continuously updates the profiles based on real-time user feedback to refine future recommendations</a:t>
            </a:r>
            <a:r>
              <a:rPr lang="en-US" sz="2400" b="1" strike="noStrike" spc="-1" dirty="0">
                <a:solidFill>
                  <a:schemeClr val="dk2"/>
                </a:solidFill>
                <a:latin typeface="Times New Roman"/>
                <a:ea typeface="Times New Roman"/>
              </a:rPr>
              <a:t>”</a:t>
            </a:r>
            <a:endParaRPr lang="en-US" sz="2400" b="0" strike="noStrike" spc="-1" dirty="0">
              <a:solidFill>
                <a:schemeClr val="dk1"/>
              </a:solidFill>
              <a:latin typeface="Arial"/>
            </a:endParaRPr>
          </a:p>
          <a:p>
            <a:pPr marL="343080" indent="0" defTabSz="914400">
              <a:lnSpc>
                <a:spcPct val="160000"/>
              </a:lnSpc>
              <a:buNone/>
              <a:tabLst>
                <a:tab pos="0" algn="l"/>
              </a:tabLst>
            </a:pPr>
            <a:endParaRPr lang="en-US" sz="2000" spc="-1" dirty="0">
              <a:solidFill>
                <a:schemeClr val="dk2"/>
              </a:solidFill>
              <a:latin typeface="Times New Roman"/>
              <a:ea typeface="Times New Roman"/>
            </a:endParaRPr>
          </a:p>
          <a:p>
            <a:pPr marL="343080" indent="0" defTabSz="914400">
              <a:lnSpc>
                <a:spcPct val="160000"/>
              </a:lnSpc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chemeClr val="dk2"/>
                </a:solidFill>
                <a:latin typeface="Times New Roman"/>
                <a:ea typeface="Times New Roman"/>
              </a:rPr>
              <a:t>Target Beneficiaries</a:t>
            </a:r>
            <a:endParaRPr lang="en-US" sz="2000" b="0" strike="noStrike" spc="-1" dirty="0">
              <a:solidFill>
                <a:schemeClr val="dk1"/>
              </a:solidFill>
              <a:latin typeface="Arial"/>
            </a:endParaRPr>
          </a:p>
          <a:p>
            <a:pPr marL="343080" indent="-343080" defTabSz="914400">
              <a:lnSpc>
                <a:spcPct val="16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 dirty="0">
                <a:solidFill>
                  <a:schemeClr val="dk2"/>
                </a:solidFill>
                <a:latin typeface="Times New Roman"/>
                <a:ea typeface="Times New Roman"/>
              </a:rPr>
              <a:t>E-commerce platforms, which struggle to deliver personalized recommendations</a:t>
            </a:r>
            <a:endParaRPr lang="en-US" sz="2000" b="0" strike="noStrike" spc="-1" dirty="0">
              <a:solidFill>
                <a:schemeClr val="dk1"/>
              </a:solidFill>
              <a:latin typeface="Arial"/>
            </a:endParaRPr>
          </a:p>
          <a:p>
            <a:pPr marL="343080" indent="-343080" defTabSz="914400">
              <a:lnSpc>
                <a:spcPct val="16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 dirty="0">
                <a:solidFill>
                  <a:schemeClr val="dk2"/>
                </a:solidFill>
                <a:latin typeface="Times New Roman"/>
                <a:ea typeface="Times New Roman"/>
              </a:rPr>
              <a:t>Digital platforms and brands are primarily affected, as fragmented user data prevents effective personalization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360" cy="113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strike="noStrike" spc="-1" dirty="0">
                <a:solidFill>
                  <a:schemeClr val="dk1"/>
                </a:solidFill>
                <a:latin typeface="Times New Roman"/>
                <a:ea typeface="Times New Roman"/>
              </a:rPr>
              <a:t>Objectives</a:t>
            </a:r>
            <a:endParaRPr lang="en-US" sz="30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258619" y="1716379"/>
            <a:ext cx="8719126" cy="4007753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0" indent="-4572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AutoNum type="arabicPeriod"/>
              <a:tabLst>
                <a:tab pos="0" algn="l"/>
              </a:tabLst>
            </a:pPr>
            <a:r>
              <a:rPr lang="en-US" sz="2400" b="0" strike="noStrike" spc="-1" dirty="0">
                <a:solidFill>
                  <a:schemeClr val="dk2"/>
                </a:solidFill>
                <a:latin typeface="Times New Roman"/>
                <a:ea typeface="Times New Roman"/>
              </a:rPr>
              <a:t>To unify user interaction data from digital platforms.</a:t>
            </a:r>
          </a:p>
          <a:p>
            <a:pPr marL="457200" indent="-4572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AutoNum type="arabicPeriod"/>
              <a:tabLst>
                <a:tab pos="0" algn="l"/>
              </a:tabLst>
            </a:pPr>
            <a:r>
              <a:rPr lang="en-US" sz="2400" b="0" strike="noStrike" spc="-1" dirty="0">
                <a:solidFill>
                  <a:schemeClr val="dk2"/>
                </a:solidFill>
                <a:latin typeface="Times New Roman"/>
                <a:ea typeface="Times New Roman"/>
              </a:rPr>
              <a:t>To develop user profiles by analyzing contextual signals and evolving interest patterns.</a:t>
            </a:r>
          </a:p>
          <a:p>
            <a:pPr marL="457200" indent="-4572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AutoNum type="arabicPeriod"/>
              <a:tabLst>
                <a:tab pos="0" algn="l"/>
              </a:tabLst>
            </a:pPr>
            <a:r>
              <a:rPr lang="en-US" sz="2400" b="0" strike="noStrike" spc="-1" dirty="0">
                <a:solidFill>
                  <a:schemeClr val="dk2"/>
                </a:solidFill>
                <a:latin typeface="Times New Roman"/>
                <a:ea typeface="Times New Roman"/>
              </a:rPr>
              <a:t>To implement a personalized recommendation system that adapts in real time based on user feedback.</a:t>
            </a:r>
          </a:p>
        </p:txBody>
      </p:sp>
      <p:sp>
        <p:nvSpPr>
          <p:cNvPr id="20" name="PlaceHolder 3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accent2"/>
                </a:solidFill>
                <a:latin typeface="Calibri"/>
                <a:ea typeface="Calibri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9D7675A3-21A0-42D1-9114-8A31B356C7B2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4</a:t>
            </a:fld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Calibri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Methodology: Real-Time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/>
          </a:p>
          <a:p>
            <a:pPr>
              <a:spcBef>
                <a:spcPts val="1000"/>
              </a:spcBef>
            </a:pPr>
            <a:r>
              <a:t>Event-Driven Architecture: Captures micro-events (clicks, cart adds) in real-time.</a:t>
            </a:r>
          </a:p>
          <a:p>
            <a:r>
              <a:t>Data Ingestion: Next.js frontend sends JSON payloads to FastAPI.</a:t>
            </a:r>
          </a:p>
          <a:p>
            <a:r>
              <a:t>Stream Processing: Apache Kafka acts as a shock-absorber for massive traffic.</a:t>
            </a:r>
          </a:p>
          <a:p>
            <a:r>
              <a:t>Identity Resolution: Background consumer matches anonymous cookies to real user profiles.</a:t>
            </a:r>
          </a:p>
          <a:p>
            <a:r>
              <a:t>Dynamic Profiling: Mathematical user interest scores update instantly in MySQL.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/>
          </a:p>
          <a:p>
            <a:pPr>
              <a:spcBef>
                <a:spcPts val="1000"/>
              </a:spcBef>
            </a:pPr>
            <a:r>
              <a:t>Frontend: Next.js &amp; React (Interactive E-Commerce Storefront)</a:t>
            </a:r>
          </a:p>
          <a:p>
            <a:r>
              <a:t>Commercial Backend: Django (Inventory &amp; User Authentication)</a:t>
            </a:r>
          </a:p>
          <a:p>
            <a:r>
              <a:t>AI Engine: FastAPI (Lightning-fast Python AI serving)</a:t>
            </a:r>
          </a:p>
          <a:p>
            <a:r>
              <a:t>Event Streaming: Apache Kafka &amp; Zookeeper (High-volume traffic queue)</a:t>
            </a:r>
          </a:p>
          <a:p>
            <a:r>
              <a:t>Database: MySQL 8.0 (Permanent Identity &amp; Profile storage)</a:t>
            </a:r>
          </a:p>
          <a:p>
            <a:r>
              <a:t>Cache: Redis (Instant recommendation retrieval)</a:t>
            </a:r>
          </a:p>
          <a:p>
            <a:r>
              <a:t>Infrastructure: Docker (Containerized Microservices architecture)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/>
          </a:p>
          <a:p>
            <a:pPr>
              <a:spcBef>
                <a:spcPts val="1000"/>
              </a:spcBef>
            </a:pPr>
            <a:r>
              <a:t>Hybrid Recommendation Engine combining three distinct approaches:</a:t>
            </a:r>
          </a:p>
          <a:p>
            <a:r>
              <a:t>1. Collaborative Filtering (ALS): Analyzes patterns (Users who bought X also bought Y).</a:t>
            </a:r>
          </a:p>
          <a:p>
            <a:r>
              <a:t>2. Content-Based Matching (BM25): Matches actual text descriptions and product metadata.</a:t>
            </a:r>
          </a:p>
          <a:p>
            <a:r>
              <a:t>3. Semantic Embeddings: Understands the real meaning of words (e.g. 'sneakers' vs 'shoes').</a:t>
            </a:r>
          </a:p>
          <a:p>
            <a:r>
              <a:t>Identity Graphing: Merges anonymous session data with logged-in user databases.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pPr>
              <a:spcBef>
                <a:spcPts val="1000"/>
              </a:spcBef>
            </a:pPr>
            <a:r>
              <a:t>Real-Time Processing: Events are captured and processed by the AI in under 10 milliseconds.</a:t>
            </a:r>
          </a:p>
          <a:p>
            <a:r>
              <a:t>Enterprise Scalability: Kafka prevents MySQL database crashes during extremely high traffic.</a:t>
            </a:r>
          </a:p>
          <a:p>
            <a:r>
              <a:t>Cold Start Solution: The 5-layer profile instantly targets brand-new users on their first click.</a:t>
            </a:r>
          </a:p>
          <a:p>
            <a:r>
              <a:t>[ DEMONSTRATION ]: (Be prepared to show the SmartShop Frontend and the Admin Dashboard)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/>
          </a:p>
          <a:p>
            <a:pPr>
              <a:spcBef>
                <a:spcPts val="1000"/>
              </a:spcBef>
            </a:pPr>
            <a:r>
              <a:t>The Contextual Product Recommender Platform (CPRP) successfully demonstrates an enterprise-grade AI architecture.</a:t>
            </a:r>
          </a:p>
          <a:p>
            <a:r>
              <a:t>By moving away from slow direct-database writes and utilizing Apache Kafka, the system achieves massive horizontal scalability.</a:t>
            </a:r>
          </a:p>
          <a:p>
            <a:r>
              <a:t>The Hybrid ML Model ensures high accuracy, solving traditional e-commerce recommendation problems like catalog decay.</a:t>
            </a:r>
          </a:p>
          <a:p>
            <a:r>
              <a:t>The project is fully containerized and ready for real-world deployment in a production environment.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Internal-1">
  <a:themeElements>
    <a:clrScheme name="Office">
      <a:dk1>
        <a:srgbClr val="073763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494</Words>
  <Application>Microsoft Office PowerPoint</Application>
  <PresentationFormat>On-screen Show (4:3)</PresentationFormat>
  <Paragraphs>61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Symbol</vt:lpstr>
      <vt:lpstr>Times New Roman</vt:lpstr>
      <vt:lpstr>Wingdings</vt:lpstr>
      <vt:lpstr>Office Theme</vt:lpstr>
      <vt:lpstr>Internal-1</vt:lpstr>
      <vt:lpstr>PowerPoint Presentation</vt:lpstr>
      <vt:lpstr>Problem Statement</vt:lpstr>
      <vt:lpstr>PowerPoint Presentation</vt:lpstr>
      <vt:lpstr>Objectives</vt:lpstr>
      <vt:lpstr>Methodology: Real-Time Data Flow</vt:lpstr>
      <vt:lpstr>Tools &amp; Technologies</vt:lpstr>
      <vt:lpstr>Machine Learning Algorithms</vt:lpstr>
      <vt:lpstr>Results &amp; Demo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vignesh s</cp:lastModifiedBy>
  <cp:revision>2</cp:revision>
  <dcterms:created xsi:type="dcterms:W3CDTF">2013-01-27T09:14:16Z</dcterms:created>
  <dcterms:modified xsi:type="dcterms:W3CDTF">2026-07-05T17:07:11Z</dcterms:modified>
  <cp:category/>
</cp:coreProperties>
</file>